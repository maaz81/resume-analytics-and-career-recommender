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5" r:id="rId1"/>
  </p:sldMasterIdLst>
  <p:sldIdLst>
    <p:sldId id="257" r:id="rId2"/>
    <p:sldId id="268" r:id="rId3"/>
    <p:sldId id="269" r:id="rId4"/>
    <p:sldId id="258" r:id="rId5"/>
    <p:sldId id="272" r:id="rId6"/>
    <p:sldId id="259" r:id="rId7"/>
    <p:sldId id="263" r:id="rId8"/>
    <p:sldId id="273" r:id="rId9"/>
    <p:sldId id="260" r:id="rId10"/>
    <p:sldId id="261" r:id="rId11"/>
    <p:sldId id="271" r:id="rId12"/>
    <p:sldId id="265" r:id="rId13"/>
    <p:sldId id="266" r:id="rId14"/>
    <p:sldId id="270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53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83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134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49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447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491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51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598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1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5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230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652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3820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489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997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333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9A1F-49E0-5943-D27C-387DF046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F54FF-17D8-9CF9-3827-9610322E9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CDA8C-9E92-30DD-86F3-EFA398283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8C379-B55A-4E61-B44F-E89EC7FA1B9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1C4FB-DCEA-9AD7-B134-074572AE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36EAA-B6F4-0598-0CD1-4BE3C262A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48E99-54B6-435E-A780-B498FF0F7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644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41D7B-68E7-494B-8F5C-9A3F4B8DC73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DF39073-3396-4F45-8D99-3B52BDD3C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587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hyperlink" Target="https://en.wikipedia.org/wiki/React_Native" TargetMode="External"/><Relationship Id="rId7" Type="http://schemas.openxmlformats.org/officeDocument/2006/relationships/hyperlink" Target="https://www.marinedatascience.co/software/index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11" Type="http://schemas.openxmlformats.org/officeDocument/2006/relationships/hyperlink" Target="https://mrhien.info/blog/cai-dat-postgresql-9-tren-centos/" TargetMode="External"/><Relationship Id="rId5" Type="http://schemas.openxmlformats.org/officeDocument/2006/relationships/hyperlink" Target="https://toidicode.com/series/express-framework" TargetMode="External"/><Relationship Id="rId10" Type="http://schemas.openxmlformats.org/officeDocument/2006/relationships/image" Target="../media/image11.gif"/><Relationship Id="rId4" Type="http://schemas.openxmlformats.org/officeDocument/2006/relationships/image" Target="../media/image8.png"/><Relationship Id="rId9" Type="http://schemas.openxmlformats.org/officeDocument/2006/relationships/hyperlink" Target="https://blog.qweather.com/post/jwt-is-now-supported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495E-6972-6597-293E-2687FE38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380" y="276200"/>
            <a:ext cx="5643716" cy="756188"/>
          </a:xfrm>
        </p:spPr>
        <p:txBody>
          <a:bodyPr>
            <a:normAutofit fontScale="90000"/>
          </a:bodyPr>
          <a:lstStyle/>
          <a:p>
            <a:pPr marR="0" algn="ctr" rtl="0"/>
            <a:r>
              <a:rPr lang="en-IN" sz="2800" b="1" i="0" u="none" strike="noStrike" baseline="0" dirty="0">
                <a:latin typeface="Times New Roman" panose="02020603050405020304" pitchFamily="18" charset="0"/>
              </a:rPr>
              <a:t>       Project Presentation</a:t>
            </a:r>
            <a:br>
              <a:rPr lang="en-IN" sz="2800" b="1" i="0" u="none" strike="noStrike" baseline="0" dirty="0">
                <a:latin typeface="Times New Roman" panose="02020603050405020304" pitchFamily="18" charset="0"/>
              </a:rPr>
            </a:br>
            <a:r>
              <a:rPr lang="en-IN" sz="2800" b="1" i="0" u="none" strike="noStrike" baseline="0" dirty="0">
                <a:latin typeface="Times New Roman" panose="02020603050405020304" pitchFamily="18" charset="0"/>
              </a:rPr>
              <a:t>   </a:t>
            </a:r>
            <a:r>
              <a:rPr lang="en-IN" sz="2800" b="1" dirty="0">
                <a:latin typeface="Times New Roman" panose="02020603050405020304" pitchFamily="18" charset="0"/>
              </a:rPr>
              <a:t>on</a:t>
            </a:r>
            <a:endParaRPr lang="en-IN" sz="2800" b="1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48AB9-5804-7E0E-51B3-48D9544EB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3587" y="1131606"/>
            <a:ext cx="9311149" cy="5726393"/>
          </a:xfrm>
        </p:spPr>
        <p:txBody>
          <a:bodyPr>
            <a:normAutofit fontScale="25000" lnSpcReduction="20000"/>
          </a:bodyPr>
          <a:lstStyle/>
          <a:p>
            <a:pPr marL="0" marR="0" lvl="0" indent="0" rtl="0">
              <a:buNone/>
            </a:pPr>
            <a:r>
              <a:rPr lang="en-US" sz="80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sz="8000" b="1" i="0" u="none" strike="noStrike" baseline="0" dirty="0">
                <a:latin typeface="Times New Roman" panose="02020603050405020304" pitchFamily="18" charset="0"/>
              </a:rPr>
              <a:t>AI-Powered Resume Analyzer &amp; Career Recommendation System</a:t>
            </a:r>
          </a:p>
          <a:p>
            <a:pPr marL="0" marR="0" lvl="0" indent="0" rtl="0">
              <a:buNone/>
            </a:pPr>
            <a:r>
              <a:rPr lang="en-US" sz="6400" b="1" dirty="0">
                <a:latin typeface="Times New Roman" panose="02020603050405020304" pitchFamily="18" charset="0"/>
              </a:rPr>
              <a:t>       		</a:t>
            </a:r>
            <a:endParaRPr lang="en-US" sz="6400" b="0" i="1" u="none" strike="noStrike" baseline="0" dirty="0">
              <a:latin typeface="Times New Roman" panose="02020603050405020304" pitchFamily="18" charset="0"/>
            </a:endParaRPr>
          </a:p>
          <a:p>
            <a:pPr marL="457200" marR="0" lvl="1" indent="0" rtl="0">
              <a:buNone/>
            </a:pPr>
            <a:r>
              <a:rPr lang="en-IN" b="1" i="0" u="none" strike="noStrike" baseline="0" dirty="0">
                <a:latin typeface="Times New Roman" panose="02020603050405020304" pitchFamily="18" charset="0"/>
              </a:rPr>
              <a:t> </a:t>
            </a:r>
          </a:p>
          <a:p>
            <a:pPr marL="457200" marR="0" lvl="1" indent="0" rtl="0">
              <a:buNone/>
            </a:pPr>
            <a:r>
              <a:rPr lang="en-IN" sz="7200" b="1" dirty="0">
                <a:latin typeface="Times New Roman" panose="02020603050405020304" pitchFamily="18" charset="0"/>
              </a:rPr>
              <a:t>                                                       Team Members :-</a:t>
            </a:r>
          </a:p>
          <a:p>
            <a:pPr marL="457200" marR="0" lvl="1" indent="0" rtl="0">
              <a:buNone/>
            </a:pPr>
            <a:endParaRPr lang="en-IN" sz="5600" b="1" dirty="0">
              <a:latin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6400" b="1" i="0" u="none" strike="noStrike" baseline="0" dirty="0">
                <a:latin typeface="Times New Roman" panose="02020603050405020304" pitchFamily="18" charset="0"/>
              </a:rPr>
              <a:t>                        1) Amisha </a:t>
            </a:r>
            <a:r>
              <a:rPr lang="en-IN" sz="6400" b="1" dirty="0" err="1">
                <a:latin typeface="Times New Roman" panose="02020603050405020304" pitchFamily="18" charset="0"/>
              </a:rPr>
              <a:t>Bhasme</a:t>
            </a:r>
            <a:r>
              <a:rPr lang="en-IN" sz="6400" b="1" i="0" u="none" strike="noStrike" baseline="0" dirty="0">
                <a:latin typeface="Times New Roman" panose="02020603050405020304" pitchFamily="18" charset="0"/>
              </a:rPr>
              <a:t>  </a:t>
            </a:r>
            <a:r>
              <a:rPr lang="en-IN" sz="6400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en-IN" sz="6400" b="1" i="0" u="none" strike="noStrike" baseline="0" dirty="0">
                <a:latin typeface="Times New Roman" panose="02020603050405020304" pitchFamily="18" charset="0"/>
              </a:rPr>
              <a:t>                                        2) Khushi Rale</a:t>
            </a:r>
          </a:p>
          <a:p>
            <a:pPr marL="457200" lvl="1" indent="0">
              <a:buNone/>
            </a:pPr>
            <a:r>
              <a:rPr lang="en-IN" sz="6400" b="1" dirty="0">
                <a:latin typeface="Times New Roman" panose="02020603050405020304" pitchFamily="18" charset="0"/>
              </a:rPr>
              <a:t>                        3) Yash </a:t>
            </a:r>
            <a:r>
              <a:rPr lang="en-IN" sz="6400" b="1" dirty="0" err="1">
                <a:latin typeface="Times New Roman" panose="02020603050405020304" pitchFamily="18" charset="0"/>
              </a:rPr>
              <a:t>Bhagwatkar</a:t>
            </a:r>
            <a:r>
              <a:rPr lang="en-IN" sz="6400" b="1" dirty="0">
                <a:latin typeface="Times New Roman" panose="02020603050405020304" pitchFamily="18" charset="0"/>
              </a:rPr>
              <a:t>                                        4) Maaz Ahmad Khan</a:t>
            </a:r>
          </a:p>
          <a:p>
            <a:pPr marL="457200" lvl="1" indent="0">
              <a:buNone/>
            </a:pPr>
            <a:r>
              <a:rPr lang="en-IN" sz="6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</a:p>
          <a:p>
            <a:pPr marL="457200" marR="0" lvl="1" indent="0" rtl="0">
              <a:buNone/>
            </a:pPr>
            <a:r>
              <a:rPr lang="en-IN" sz="6400" b="1" dirty="0">
                <a:latin typeface="Times New Roman" panose="02020603050405020304" pitchFamily="18" charset="0"/>
              </a:rPr>
              <a:t>                                                                                                                          </a:t>
            </a:r>
          </a:p>
          <a:p>
            <a:pPr marL="457200" marR="0" lvl="1" indent="0" rtl="0">
              <a:buNone/>
            </a:pPr>
            <a:r>
              <a:rPr lang="en-IN" sz="6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</a:p>
          <a:p>
            <a:pPr marL="457200" marR="0" lvl="1" indent="0" rtl="0">
              <a:buNone/>
            </a:pPr>
            <a:endParaRPr lang="en-IN" b="1" i="0" u="none" strike="noStrike" baseline="0" dirty="0">
              <a:latin typeface="Times New Roman" panose="02020603050405020304" pitchFamily="18" charset="0"/>
            </a:endParaRPr>
          </a:p>
          <a:p>
            <a:pPr marL="457200" marR="0" lvl="1" indent="0" rtl="0">
              <a:buNone/>
            </a:pPr>
            <a:r>
              <a:rPr lang="en-IN" b="1" dirty="0">
                <a:latin typeface="Times New Roman" panose="02020603050405020304" pitchFamily="18" charset="0"/>
              </a:rPr>
              <a:t>                                                 </a:t>
            </a:r>
          </a:p>
          <a:p>
            <a:pPr marL="457200" marR="0" lvl="1" indent="0" rtl="0">
              <a:buNone/>
            </a:pPr>
            <a:r>
              <a:rPr lang="en-IN" b="1" dirty="0">
                <a:latin typeface="Times New Roman" panose="02020603050405020304" pitchFamily="18" charset="0"/>
              </a:rPr>
              <a:t>    </a:t>
            </a:r>
          </a:p>
          <a:p>
            <a:pPr marL="457200" marR="0" lvl="1" indent="0" rtl="0">
              <a:buNone/>
            </a:pPr>
            <a:r>
              <a:rPr lang="en-IN" b="1" dirty="0">
                <a:latin typeface="Times New Roman" panose="02020603050405020304" pitchFamily="18" charset="0"/>
              </a:rPr>
              <a:t>                                        </a:t>
            </a:r>
          </a:p>
          <a:p>
            <a:pPr marL="457200" marR="0" lvl="1" indent="0" rtl="0">
              <a:buNone/>
            </a:pPr>
            <a:endParaRPr lang="en-IN" sz="26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marL="457200" marR="0" lvl="1" indent="0" rtl="0">
              <a:buNone/>
            </a:pPr>
            <a:r>
              <a:rPr lang="en-IN" sz="6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                                                B   </a:t>
            </a:r>
            <a:r>
              <a:rPr lang="en-IN" sz="6400" b="1" dirty="0">
                <a:latin typeface="Times New Roman" panose="02020603050405020304" pitchFamily="18" charset="0"/>
              </a:rPr>
              <a:t>Guided By </a:t>
            </a:r>
          </a:p>
          <a:p>
            <a:pPr marL="457200" lvl="1" indent="0">
              <a:buNone/>
            </a:pPr>
            <a:r>
              <a:rPr lang="en-IN" sz="5600" b="1" dirty="0">
                <a:latin typeface="Times New Roman" panose="02020603050405020304" pitchFamily="18" charset="0"/>
              </a:rPr>
              <a:t>                                                                                Dr. A. P. </a:t>
            </a:r>
            <a:r>
              <a:rPr lang="en-IN" sz="5600" b="1" dirty="0" err="1">
                <a:latin typeface="Times New Roman" panose="02020603050405020304" pitchFamily="18" charset="0"/>
              </a:rPr>
              <a:t>Jadhao</a:t>
            </a:r>
            <a:r>
              <a:rPr lang="en-IN" sz="5600" b="1" dirty="0">
                <a:latin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IN" sz="7200" b="1" dirty="0">
                <a:latin typeface="Times New Roman" panose="02020603050405020304" pitchFamily="18" charset="0"/>
              </a:rPr>
              <a:t>                       Dr. Rajendra Gode Institute of Technology &amp; Research</a:t>
            </a:r>
          </a:p>
          <a:p>
            <a:pPr marL="457200" marR="0" lvl="1" indent="0" rtl="0">
              <a:buNone/>
            </a:pPr>
            <a:r>
              <a:rPr lang="en-IN" sz="6400" b="1" dirty="0">
                <a:latin typeface="Times New Roman" panose="02020603050405020304" pitchFamily="18" charset="0"/>
              </a:rPr>
              <a:t>                                                                        Amaravati </a:t>
            </a:r>
          </a:p>
          <a:p>
            <a:pPr marL="457200" marR="0" lvl="1" indent="0" rtl="0">
              <a:buNone/>
            </a:pPr>
            <a:r>
              <a:rPr lang="en-IN" sz="6400" b="1" dirty="0">
                <a:latin typeface="Times New Roman" panose="02020603050405020304" pitchFamily="18" charset="0"/>
              </a:rPr>
              <a:t>                                                                        2025-2026</a:t>
            </a:r>
          </a:p>
          <a:p>
            <a:pPr marL="457200" marR="0" lvl="1" indent="0" rtl="0">
              <a:buNone/>
            </a:pP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marL="457200" marR="0" lvl="1" indent="0" rtl="0">
              <a:buNone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</a:p>
          <a:p>
            <a:pPr marL="457200" marR="0" lvl="1" indent="0" rtl="0">
              <a:buNone/>
            </a:pP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BFF34-2EBE-3C79-9591-07EE6F062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935" y="3229767"/>
            <a:ext cx="1671484" cy="168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64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266D-B82A-F0E2-9ECB-EF7C4ADCE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1585" y="157314"/>
            <a:ext cx="3293807" cy="1061731"/>
          </a:xfrm>
        </p:spPr>
        <p:txBody>
          <a:bodyPr>
            <a:normAutofit/>
          </a:bodyPr>
          <a:lstStyle/>
          <a:p>
            <a:r>
              <a:rPr lang="en-IN" sz="3200" b="1" dirty="0"/>
              <a:t>Introduction:-</a:t>
            </a:r>
            <a:r>
              <a:rPr lang="en-IN" dirty="0"/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116B7A6-E54F-BE69-67C2-404D19785B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24695" y="1417384"/>
            <a:ext cx="11542610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AI-Based Career Intelligence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 a smart platform designed to help students improve their career readiness using Artificial Intelligence.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analyzes user resumes and compares them with real job descriptions to evaluate career alignment.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system identifies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skill gaps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and checks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ATS (Applicant Tracking System) compatibility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provides personalized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career guidance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including recommended skills, courses, and etc.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platform generates a structured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learning roadmap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help students move toward their target job roles.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By automating resume analysis and career planning, the system makes career decisions more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data-driven and intelligent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2269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AFCE7-D7A2-C8E8-9462-0D389B85D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480" y="341779"/>
            <a:ext cx="3726426" cy="629264"/>
          </a:xfrm>
        </p:spPr>
        <p:txBody>
          <a:bodyPr>
            <a:normAutofit/>
          </a:bodyPr>
          <a:lstStyle/>
          <a:p>
            <a:r>
              <a:rPr lang="en-IN" sz="3200" b="1" dirty="0"/>
              <a:t>Objective:-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585ED7-7B1A-CC6D-6A06-E9DDD6B756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58480" y="1407719"/>
            <a:ext cx="10439066" cy="4305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 develop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AI-powered platform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intelligent resume analysis and career guidance.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 identify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skill gaps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between candidate profiles and industry requirements.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 calculate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ATS compatibility score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better resume optimization.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 provide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personalized recommendations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such as courses, skills, and projects.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 generate a structured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career learning roadmap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students and job seekers.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 simplify career decision-making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data-driven insights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2073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B9AB-3580-B282-BABC-95FB38045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B39A4-76D7-A6FF-189E-1A8BE66A3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412" y="1550322"/>
            <a:ext cx="10515600" cy="4351338"/>
          </a:xfrm>
        </p:spPr>
        <p:txBody>
          <a:bodyPr/>
          <a:lstStyle/>
          <a:p>
            <a:pPr marR="0" lvl="0" algn="just" rt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en-US" sz="2400" i="0" u="none" strike="noStrike" baseline="0" dirty="0">
                <a:latin typeface="Times New Roman" panose="02020603050405020304" pitchFamily="18" charset="0"/>
              </a:rPr>
              <a:t>Current Challenges Faced by Students</a:t>
            </a:r>
          </a:p>
          <a:p>
            <a:pPr marR="0" lvl="0" algn="just" rt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Students lack awareness of skill gaps</a:t>
            </a:r>
          </a:p>
          <a:p>
            <a:pPr marR="0" lvl="0" algn="just" rt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Resume optimization for ATS systems is difficult</a:t>
            </a:r>
          </a:p>
          <a:p>
            <a:pPr marR="0" lvl="0" algn="just" rt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No structured roadmap after resume evaluation</a:t>
            </a:r>
          </a:p>
          <a:p>
            <a:pPr marR="0" lvl="0" algn="just" rt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Manual job description comparison is inaccurate</a:t>
            </a:r>
          </a:p>
          <a:p>
            <a:pPr marR="0" lvl="0" algn="just" rt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Absence of intelligent career guidance platforms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A3E586-7938-34AA-3C99-BE1262BA0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032" y="0"/>
            <a:ext cx="4866968" cy="687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049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98D8-4308-358D-44BB-885B273C0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787" y="285135"/>
            <a:ext cx="6980903" cy="80609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Real world Analysis(Student Challenge)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53B6A0-7CEC-47D9-BCFE-8BCCF97E7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4" y="1287871"/>
            <a:ext cx="10146890" cy="474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10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90E06-B4AA-A0F9-F448-DB1DC609C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Proposed Solution</a:t>
            </a:r>
            <a:r>
              <a:rPr lang="en-IN" sz="3200" b="1" dirty="0">
                <a:latin typeface="Times New Roman" panose="02020603050405020304" pitchFamily="18" charset="0"/>
              </a:rPr>
              <a:t>: CAREER-AI</a:t>
            </a:r>
            <a:br>
              <a:rPr lang="en-IN" sz="3200" b="1" dirty="0">
                <a:latin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</a:rPr>
            </a:br>
            <a:r>
              <a:rPr lang="en-IN" sz="3100" b="1" dirty="0">
                <a:latin typeface="Times New Roman" panose="02020603050405020304" pitchFamily="18" charset="0"/>
              </a:rPr>
              <a:t>Our System Provides :</a:t>
            </a:r>
            <a:br>
              <a:rPr lang="en-IN" sz="3100" b="1" dirty="0">
                <a:latin typeface="Times New Roman" panose="02020603050405020304" pitchFamily="18" charset="0"/>
              </a:rPr>
            </a:br>
            <a:br>
              <a:rPr lang="en-IN" sz="3100" b="1" dirty="0">
                <a:latin typeface="Times New Roman" panose="02020603050405020304" pitchFamily="18" charset="0"/>
              </a:rPr>
            </a:br>
            <a:br>
              <a:rPr lang="en-IN" sz="3100" b="1" dirty="0">
                <a:latin typeface="Times New Roman" panose="02020603050405020304" pitchFamily="18" charset="0"/>
              </a:rPr>
            </a:br>
            <a:endParaRPr lang="en-IN" sz="3100" b="1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F82CA-A741-C46A-63A5-562FB0D28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729" y="2228747"/>
            <a:ext cx="10515600" cy="4351338"/>
          </a:xfrm>
        </p:spPr>
        <p:txBody>
          <a:bodyPr>
            <a:normAutofit/>
          </a:bodyPr>
          <a:lstStyle/>
          <a:p>
            <a:pPr marR="0" lvl="0" rtl="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en-IN" sz="2400" i="0" u="none" strike="noStrike" baseline="0" dirty="0">
                <a:latin typeface="Times New Roman" panose="02020603050405020304" pitchFamily="18" charset="0"/>
              </a:rPr>
              <a:t>AI-Driven Career Intelligence Platform</a:t>
            </a:r>
          </a:p>
          <a:p>
            <a:pPr marR="0" lvl="0" rtl="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AI-based resume &amp; job description analysis</a:t>
            </a:r>
          </a:p>
          <a:p>
            <a:pPr marR="0" lvl="0" rtl="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ATS compatibility scoring</a:t>
            </a:r>
          </a:p>
          <a:p>
            <a:pPr marR="0" lvl="0" rtl="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 Automatic missing skill detection</a:t>
            </a:r>
          </a:p>
          <a:p>
            <a:pPr marR="0" lvl="0" rtl="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 Course &amp; project recommendations</a:t>
            </a:r>
          </a:p>
          <a:p>
            <a:pPr marR="0" lvl="0" rtl="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 Personalized learning roadmap generation</a:t>
            </a:r>
          </a:p>
          <a:p>
            <a:pPr marR="0" lvl="0" rtl="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</a:rPr>
              <a:t>AI-powered career guidance chatbot</a:t>
            </a:r>
            <a:endParaRPr lang="en-IN" sz="2400" b="0" i="0" u="none" strike="noStrike" baseline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346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E05C-4A9F-37F8-7F17-71A1466B6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49" y="207809"/>
            <a:ext cx="10515600" cy="1325563"/>
          </a:xfrm>
        </p:spPr>
        <p:txBody>
          <a:bodyPr>
            <a:normAutofit/>
          </a:bodyPr>
          <a:lstStyle/>
          <a:p>
            <a:pPr marR="0" rtl="0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Resume Analysis Flow: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B4197-D263-7235-E0D3-67F1D3ED9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2" y="845337"/>
            <a:ext cx="11670890" cy="601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07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44927-FEA1-3E7E-D0F1-1EB5E53C0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1456" y="408038"/>
            <a:ext cx="5181601" cy="785095"/>
          </a:xfrm>
        </p:spPr>
        <p:txBody>
          <a:bodyPr>
            <a:normAutofit/>
          </a:bodyPr>
          <a:lstStyle/>
          <a:p>
            <a:r>
              <a:rPr lang="en-IN" sz="3200" b="1" dirty="0"/>
              <a:t>System working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0973A6-B56D-C659-0C0E-3367A4628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61" y="1494503"/>
            <a:ext cx="10038735" cy="495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91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9C9E7-7E0F-1687-E709-D85E2CAEE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1" i="0" u="none" strike="noStrike" baseline="0" dirty="0">
                <a:latin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DB915-E66E-4DF1-DB3B-01C810161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83" y="1786964"/>
            <a:ext cx="8596668" cy="3880773"/>
          </a:xfrm>
        </p:spPr>
        <p:txBody>
          <a:bodyPr>
            <a:normAutofit/>
          </a:bodyPr>
          <a:lstStyle/>
          <a:p>
            <a:pPr marR="0" lvl="0" rtl="0"/>
            <a:r>
              <a:rPr lang="en-IN" sz="2400" b="1" i="0" u="none" strike="noStrike" baseline="0" dirty="0">
                <a:latin typeface="Times New Roman" panose="02020603050405020304" pitchFamily="18" charset="0"/>
              </a:rPr>
              <a:t>Microservice-Based Architecture</a:t>
            </a:r>
          </a:p>
          <a:p>
            <a:pPr marR="0" lvl="0" rtl="0"/>
            <a:r>
              <a:rPr lang="en-IN" sz="2000" b="0" i="0" u="none" strike="noStrike" baseline="0" dirty="0">
                <a:latin typeface="Times New Roman" panose="02020603050405020304" pitchFamily="18" charset="0"/>
              </a:rPr>
              <a:t>User (React Frontend)</a:t>
            </a:r>
            <a:br>
              <a:rPr lang="en-IN" sz="2000" b="0" i="0" u="none" strike="noStrike" baseline="0" dirty="0">
                <a:latin typeface="Times New Roman" panose="02020603050405020304" pitchFamily="18" charset="0"/>
              </a:rPr>
            </a:br>
            <a:r>
              <a:rPr lang="en-IN" sz="2000" b="0" i="0" u="none" strike="noStrike" baseline="0" dirty="0">
                <a:latin typeface="Times New Roman" panose="02020603050405020304" pitchFamily="18" charset="0"/>
              </a:rPr>
              <a:t>              ↓</a:t>
            </a:r>
            <a:br>
              <a:rPr lang="en-IN" sz="2000" b="0" i="0" u="none" strike="noStrike" baseline="0" dirty="0">
                <a:latin typeface="Times New Roman" panose="02020603050405020304" pitchFamily="18" charset="0"/>
              </a:rPr>
            </a:br>
            <a:r>
              <a:rPr lang="en-IN" sz="2000" b="0" i="0" u="none" strike="noStrike" baseline="0" dirty="0">
                <a:latin typeface="Times New Roman" panose="02020603050405020304" pitchFamily="18" charset="0"/>
              </a:rPr>
              <a:t>Node.js Express Backend API</a:t>
            </a:r>
            <a:br>
              <a:rPr lang="en-IN" sz="2000" b="0" i="0" u="none" strike="noStrike" baseline="0" dirty="0">
                <a:latin typeface="Times New Roman" panose="02020603050405020304" pitchFamily="18" charset="0"/>
              </a:rPr>
            </a:br>
            <a:r>
              <a:rPr lang="en-IN" sz="2000" b="0" i="0" u="none" strike="noStrike" baseline="0" dirty="0">
                <a:latin typeface="Times New Roman" panose="02020603050405020304" pitchFamily="18" charset="0"/>
              </a:rPr>
              <a:t>              ↓</a:t>
            </a:r>
            <a:br>
              <a:rPr lang="en-IN" sz="2000" b="0" i="0" u="none" strike="noStrike" baseline="0" dirty="0">
                <a:latin typeface="Times New Roman" panose="02020603050405020304" pitchFamily="18" charset="0"/>
              </a:rPr>
            </a:br>
            <a:r>
              <a:rPr lang="en-IN" sz="2000" b="0" i="0" u="none" strike="noStrike" baseline="0" dirty="0">
                <a:latin typeface="Times New Roman" panose="02020603050405020304" pitchFamily="18" charset="0"/>
              </a:rPr>
              <a:t>PostgreSQL Database</a:t>
            </a:r>
            <a:br>
              <a:rPr lang="en-IN" sz="2000" b="0" i="0" u="none" strike="noStrike" baseline="0" dirty="0">
                <a:latin typeface="Times New Roman" panose="02020603050405020304" pitchFamily="18" charset="0"/>
              </a:rPr>
            </a:br>
            <a:r>
              <a:rPr lang="en-IN" sz="2000" b="0" i="0" u="none" strike="noStrike" baseline="0" dirty="0">
                <a:latin typeface="Times New Roman" panose="02020603050405020304" pitchFamily="18" charset="0"/>
              </a:rPr>
              <a:t>              ↓</a:t>
            </a:r>
            <a:br>
              <a:rPr lang="en-IN" sz="2000" b="0" i="0" u="none" strike="noStrike" baseline="0" dirty="0">
                <a:latin typeface="Times New Roman" panose="02020603050405020304" pitchFamily="18" charset="0"/>
              </a:rPr>
            </a:br>
            <a:r>
              <a:rPr lang="en-IN" sz="2000" b="0" i="0" u="none" strike="noStrike" baseline="0" dirty="0" err="1">
                <a:latin typeface="Times New Roman" panose="02020603050405020304" pitchFamily="18" charset="0"/>
              </a:rPr>
              <a:t>FastAPI</a:t>
            </a:r>
            <a:r>
              <a:rPr lang="en-IN" sz="2000" b="0" i="0" u="none" strike="noStrike" baseline="0" dirty="0">
                <a:latin typeface="Times New Roman" panose="02020603050405020304" pitchFamily="18" charset="0"/>
              </a:rPr>
              <a:t> AI/ML Microservice</a:t>
            </a:r>
            <a:br>
              <a:rPr lang="en-IN" sz="2000" b="0" i="0" u="none" strike="noStrike" baseline="0" dirty="0">
                <a:latin typeface="Times New Roman" panose="02020603050405020304" pitchFamily="18" charset="0"/>
              </a:rPr>
            </a:br>
            <a:r>
              <a:rPr lang="en-IN" sz="2000" b="0" i="0" u="none" strike="noStrike" baseline="0" dirty="0">
                <a:latin typeface="Times New Roman" panose="02020603050405020304" pitchFamily="18" charset="0"/>
              </a:rPr>
              <a:t>              ↓</a:t>
            </a:r>
            <a:br>
              <a:rPr lang="en-IN" sz="2000" b="0" i="0" u="none" strike="noStrike" baseline="0" dirty="0">
                <a:latin typeface="Times New Roman" panose="02020603050405020304" pitchFamily="18" charset="0"/>
              </a:rPr>
            </a:br>
            <a:r>
              <a:rPr lang="en-IN" sz="2000" b="0" i="0" u="none" strike="noStrike" baseline="0" dirty="0">
                <a:latin typeface="Times New Roman" panose="02020603050405020304" pitchFamily="18" charset="0"/>
              </a:rPr>
              <a:t>NLP + Scoring + Recommendation </a:t>
            </a:r>
            <a:r>
              <a:rPr lang="en-IN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Engine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A03929-3174-2F53-4E46-4BD0C24BE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947" y="137653"/>
            <a:ext cx="4572000" cy="662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880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1060-7F09-D09B-4B35-BCC4848D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Backend &amp; Security: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41532-D424-8D6C-BE76-E866B9060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31694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</a:rPr>
              <a:t>JWT Authentication (Access &amp; Refresh Tokens)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</a:rPr>
              <a:t>Google &amp; GitHub OAuth Login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</a:rPr>
              <a:t>Secure password validation rules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</a:rPr>
              <a:t>Rate limiting for authentication routes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</a:rPr>
              <a:t>Resume upload with PDF parsing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</a:rPr>
              <a:t>Active resume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650017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9A432-B36C-E872-281F-551275DCC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Work Done :-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ABEE7-54B5-8E6D-1115-CB07EFA9C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605" y="1680857"/>
            <a:ext cx="4068099" cy="27483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/>
              <a:t>🔹 AI/ML Work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/>
              <a:t>NLP skill extraction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/>
              <a:t>ATS scoring logic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/>
              <a:t>Skill gap detection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/>
              <a:t> Chatbot Integration</a:t>
            </a:r>
          </a:p>
          <a:p>
            <a:pPr marL="0" indent="0">
              <a:buNone/>
            </a:pPr>
            <a:r>
              <a:rPr lang="en-IN" sz="2400" dirty="0" err="1">
                <a:solidFill>
                  <a:schemeClr val="bg1"/>
                </a:solidFill>
              </a:rPr>
              <a:t>ccg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966442-5C12-BD33-12D7-A4E850647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H="1">
            <a:off x="7512935" y="1602658"/>
            <a:ext cx="4423426" cy="27483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🔹 Backend Work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Authentication(</a:t>
            </a:r>
            <a:r>
              <a:rPr lang="en-US" sz="2400" dirty="0" err="1"/>
              <a:t>JWT+Oauth</a:t>
            </a:r>
            <a:r>
              <a:rPr lang="en-US" sz="2400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API Development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Resume Upload &amp; Parsing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Database Integration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181636DE-64E3-019A-07EC-E0E0C19FB46B}"/>
              </a:ext>
            </a:extLst>
          </p:cNvPr>
          <p:cNvSpPr txBox="1">
            <a:spLocks/>
          </p:cNvSpPr>
          <p:nvPr/>
        </p:nvSpPr>
        <p:spPr>
          <a:xfrm>
            <a:off x="3932903" y="3534902"/>
            <a:ext cx="3352800" cy="2600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🔹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Frontend Work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 dashboard 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Resume upload UI 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 visualization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Chatbot UI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549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F0EDF-30F8-E09C-1C27-11F3A376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Unique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F4964-0974-65F1-F562-87A40EC35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94" y="1451999"/>
            <a:ext cx="10515600" cy="4585007"/>
          </a:xfrm>
        </p:spPr>
        <p:txBody>
          <a:bodyPr>
            <a:normAutofit/>
          </a:bodyPr>
          <a:lstStyle/>
          <a:p>
            <a:pPr marL="514350" marR="0" lvl="0" indent="-514350" rtl="0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Improvement roadmap instead of only scores</a:t>
            </a:r>
          </a:p>
          <a:p>
            <a:pPr marL="514350" marR="0" lvl="0" indent="-514350" rtl="0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Weighted scoring vs keyword matching</a:t>
            </a:r>
          </a:p>
          <a:p>
            <a:pPr marL="514350" marR="0" lvl="0" indent="-514350" rtl="0">
              <a:lnSpc>
                <a:spcPct val="150000"/>
              </a:lnSpc>
              <a:buFont typeface="+mj-lt"/>
              <a:buAutoNum type="arabicPeriod"/>
            </a:pPr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AI-powered course &amp; project recommendations</a:t>
            </a:r>
          </a:p>
          <a:p>
            <a:pPr marL="514350" marR="0" lvl="0" indent="-514350" rtl="0">
              <a:lnSpc>
                <a:spcPct val="150000"/>
              </a:lnSpc>
              <a:buFont typeface="+mj-lt"/>
              <a:buAutoNum type="arabicPeriod"/>
            </a:pPr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AI-Driven chatbot</a:t>
            </a:r>
          </a:p>
          <a:p>
            <a:pPr marL="514350" marR="0" lvl="0" indent="-514350" rtl="0">
              <a:lnSpc>
                <a:spcPct val="150000"/>
              </a:lnSpc>
              <a:buFont typeface="+mj-lt"/>
              <a:buAutoNum type="arabicPeriod"/>
            </a:pPr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OAuth-based quick login</a:t>
            </a:r>
          </a:p>
          <a:p>
            <a:pPr marL="514350" marR="0" lvl="0" indent="-514350" rtl="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</a:rPr>
              <a:t>Continuous profile monitoring</a:t>
            </a:r>
            <a:endParaRPr lang="en-IN" sz="2400" b="0" i="0" u="none" strike="noStrike" baseline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195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9733-25ED-909D-55EA-5CD1620E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9608B-D39C-79FA-E711-43C5A608C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1275"/>
            <a:ext cx="10515600" cy="518160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3400" b="1" i="0" u="none" strike="noStrike" baseline="0" dirty="0">
                <a:latin typeface="Times New Roman" panose="02020603050405020304" pitchFamily="18" charset="0"/>
              </a:rPr>
              <a:t>Frontend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sz="2600" b="0" i="0" u="none" strike="noStrike" baseline="0" dirty="0">
                <a:latin typeface="Times New Roman" panose="02020603050405020304" pitchFamily="18" charset="0"/>
              </a:rPr>
              <a:t>React.js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3400" b="1" i="0" u="none" strike="noStrike" baseline="0" dirty="0">
                <a:latin typeface="Times New Roman" panose="02020603050405020304" pitchFamily="18" charset="0"/>
              </a:rPr>
              <a:t>Backend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</a:rPr>
              <a:t>Node.js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</a:rPr>
              <a:t>Express.js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b="1" i="0" u="none" strike="noStrike" baseline="0" dirty="0">
                <a:latin typeface="Times New Roman" panose="02020603050405020304" pitchFamily="18" charset="0"/>
              </a:rPr>
              <a:t>AI / ML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</a:rPr>
              <a:t>Python &amp; Libraries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sz="2600" dirty="0" err="1">
                <a:latin typeface="Times New Roman" panose="02020603050405020304" pitchFamily="18" charset="0"/>
              </a:rPr>
              <a:t>FastAPI</a:t>
            </a:r>
            <a:r>
              <a:rPr lang="en-IN" sz="2600" dirty="0">
                <a:latin typeface="Times New Roman" panose="02020603050405020304" pitchFamily="18" charset="0"/>
              </a:rPr>
              <a:t>, NLP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sz="2600" dirty="0" err="1">
                <a:latin typeface="Times New Roman" panose="02020603050405020304" pitchFamily="18" charset="0"/>
              </a:rPr>
              <a:t>spaCy</a:t>
            </a:r>
            <a:r>
              <a:rPr lang="en-IN" sz="2600" dirty="0">
                <a:latin typeface="Times New Roman" panose="02020603050405020304" pitchFamily="18" charset="0"/>
              </a:rPr>
              <a:t>, NLTK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3400" b="1" i="0" u="none" strike="noStrike" baseline="0" dirty="0">
                <a:latin typeface="Times New Roman" panose="02020603050405020304" pitchFamily="18" charset="0"/>
              </a:rPr>
              <a:t>Authentication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</a:rPr>
              <a:t>JWT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</a:rPr>
              <a:t>Passport.js (Google &amp; GitHub)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3400" b="1" i="0" u="none" strike="noStrike" baseline="0" dirty="0">
                <a:latin typeface="Times New Roman" panose="02020603050405020304" pitchFamily="18" charset="0"/>
              </a:rPr>
              <a:t>Database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</a:rPr>
              <a:t>PostgreSQL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14E353-9F06-C63D-34DE-093F46098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99588" y="344683"/>
            <a:ext cx="2399072" cy="19939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055450-08D6-B9FD-9B74-CC2C05129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437507" y="344682"/>
            <a:ext cx="1994721" cy="1993979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8C5E17-A50F-45E4-188D-1739742BB8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247803" y="2522434"/>
            <a:ext cx="1435510" cy="15656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9FE174-B696-F605-C9AD-CF064BB732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947355" y="4717460"/>
            <a:ext cx="1994721" cy="16585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9C4F54-1156-3091-9EF3-4FD98CA8F9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5855155" y="4780239"/>
            <a:ext cx="2293683" cy="173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39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7F43-5DFD-672D-96FB-EF9559BC2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450" y="483266"/>
            <a:ext cx="3706762" cy="647443"/>
          </a:xfrm>
        </p:spPr>
        <p:txBody>
          <a:bodyPr>
            <a:normAutofit/>
          </a:bodyPr>
          <a:lstStyle/>
          <a:p>
            <a:r>
              <a:rPr lang="en-IN" sz="3200" b="1" dirty="0"/>
              <a:t>Conclusion:-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38C283-DEAA-7BE7-934C-E3F1647F62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65955" y="1486801"/>
            <a:ext cx="10598457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AI-Based Career Intelligence System provides an intelligent approach to resume analysis and career guidance.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helps students 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skill gaps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understand their readiness for specific job roles.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AI and NLP techniques automate resume evaluation and job matching with improved accuracy.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system generates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ATS scores, job match scores, and personalized recommendations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structured learning roadmap guides users toward continuous skill improvement.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Overall, the platform bridges the gap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academic learning and industry requirements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5079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E2C6-3319-F1F3-D0A5-8AEF5316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1" y="2271252"/>
            <a:ext cx="4473677" cy="1818507"/>
          </a:xfrm>
        </p:spPr>
        <p:txBody>
          <a:bodyPr>
            <a:normAutofit fontScale="90000"/>
          </a:bodyPr>
          <a:lstStyle/>
          <a:p>
            <a:r>
              <a:rPr lang="en-IN" sz="4800" b="1" dirty="0">
                <a:latin typeface="Algerian" panose="04020705040A02060702" pitchFamily="82" charset="0"/>
              </a:rPr>
              <a:t>THANK YOU!!</a:t>
            </a:r>
            <a:br>
              <a:rPr lang="en-IN" sz="4800" b="1" dirty="0">
                <a:latin typeface="Algerian" panose="04020705040A02060702" pitchFamily="82" charset="0"/>
              </a:rPr>
            </a:br>
            <a:br>
              <a:rPr lang="en-IN" sz="4800" b="1" dirty="0">
                <a:latin typeface="Algerian" panose="04020705040A02060702" pitchFamily="82" charset="0"/>
              </a:rPr>
            </a:br>
            <a:r>
              <a:rPr lang="en-IN" b="1" dirty="0">
                <a:solidFill>
                  <a:srgbClr val="00B0F0"/>
                </a:solidFill>
                <a:latin typeface="Algerian" panose="04020705040A02060702" pitchFamily="82" charset="0"/>
              </a:rPr>
              <a:t>Questions….?</a:t>
            </a:r>
          </a:p>
        </p:txBody>
      </p:sp>
    </p:spTree>
    <p:extLst>
      <p:ext uri="{BB962C8B-B14F-4D97-AF65-F5344CB8AC3E}">
        <p14:creationId xmlns:p14="http://schemas.microsoft.com/office/powerpoint/2010/main" val="533224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1784</TotalTime>
  <Words>642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Algerian</vt:lpstr>
      <vt:lpstr>Arial</vt:lpstr>
      <vt:lpstr>Times New Roman</vt:lpstr>
      <vt:lpstr>Trebuchet MS</vt:lpstr>
      <vt:lpstr>Wingdings</vt:lpstr>
      <vt:lpstr>Wingdings 3</vt:lpstr>
      <vt:lpstr>Facet</vt:lpstr>
      <vt:lpstr>       Project Presentation    on</vt:lpstr>
      <vt:lpstr>Introduction:- </vt:lpstr>
      <vt:lpstr>Objective:-</vt:lpstr>
      <vt:lpstr>Problem Statement</vt:lpstr>
      <vt:lpstr>Real world Analysis(Student Challenge)</vt:lpstr>
      <vt:lpstr>Proposed Solution: CAREER-AI  Our System Provides :   </vt:lpstr>
      <vt:lpstr>Resume Analysis Flow:</vt:lpstr>
      <vt:lpstr>System working Overview</vt:lpstr>
      <vt:lpstr>System Architecture</vt:lpstr>
      <vt:lpstr>Backend &amp; Security:</vt:lpstr>
      <vt:lpstr>Work Done :-</vt:lpstr>
      <vt:lpstr>Unique Features</vt:lpstr>
      <vt:lpstr>Tools &amp; Technologies</vt:lpstr>
      <vt:lpstr>Conclusion:-</vt:lpstr>
      <vt:lpstr>THANK YOU!!  Questions….?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khushirale7@gmail.com</dc:creator>
  <cp:lastModifiedBy>khushirale7@gmail.com</cp:lastModifiedBy>
  <cp:revision>10</cp:revision>
  <dcterms:created xsi:type="dcterms:W3CDTF">2026-02-27T06:11:53Z</dcterms:created>
  <dcterms:modified xsi:type="dcterms:W3CDTF">2026-05-04T04:47:06Z</dcterms:modified>
</cp:coreProperties>
</file>